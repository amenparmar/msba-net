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1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mIoU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64748B"/>
              </a:solidFill>
            </c:spPr>
            <c:extLst>
              <c:ext xmlns:c16="http://schemas.microsoft.com/office/drawing/2014/chart" uri="{C3380CC4-5D6E-409C-BE32-E72D297353CC}">
                <c16:uniqueId val="{00000001-0D1D-4B35-A23C-FD395F45A3AA}"/>
              </c:ext>
            </c:extLst>
          </c:dPt>
          <c:dPt>
            <c:idx val="1"/>
            <c:invertIfNegative val="1"/>
            <c:bubble3D val="0"/>
            <c:spPr>
              <a:solidFill>
                <a:srgbClr val="64748B"/>
              </a:solidFill>
            </c:spPr>
            <c:extLst>
              <c:ext xmlns:c16="http://schemas.microsoft.com/office/drawing/2014/chart" uri="{C3380CC4-5D6E-409C-BE32-E72D297353CC}">
                <c16:uniqueId val="{00000003-0D1D-4B35-A23C-FD395F45A3AA}"/>
              </c:ext>
            </c:extLst>
          </c:dPt>
          <c:dPt>
            <c:idx val="2"/>
            <c:invertIfNegative val="1"/>
            <c:bubble3D val="0"/>
            <c:spPr>
              <a:solidFill>
                <a:srgbClr val="64748B"/>
              </a:solidFill>
            </c:spPr>
            <c:extLst>
              <c:ext xmlns:c16="http://schemas.microsoft.com/office/drawing/2014/chart" uri="{C3380CC4-5D6E-409C-BE32-E72D297353CC}">
                <c16:uniqueId val="{00000005-0D1D-4B35-A23C-FD395F45A3AA}"/>
              </c:ext>
            </c:extLst>
          </c:dPt>
          <c:dPt>
            <c:idx val="3"/>
            <c:invertIfNegative val="1"/>
            <c:bubble3D val="0"/>
            <c:spPr>
              <a:solidFill>
                <a:srgbClr val="2563EB"/>
              </a:solidFill>
            </c:spPr>
            <c:extLst>
              <c:ext xmlns:c16="http://schemas.microsoft.com/office/drawing/2014/chart" uri="{C3380CC4-5D6E-409C-BE32-E72D297353CC}">
                <c16:uniqueId val="{00000007-0D1D-4B35-A23C-FD395F45A3AA}"/>
              </c:ext>
            </c:extLst>
          </c:dPt>
          <c:dPt>
            <c:idx val="4"/>
            <c:invertIfNegative val="1"/>
            <c:bubble3D val="0"/>
            <c:spPr>
              <a:solidFill>
                <a:srgbClr val="2563EB"/>
              </a:solidFill>
            </c:spPr>
            <c:extLst>
              <c:ext xmlns:c16="http://schemas.microsoft.com/office/drawing/2014/chart" uri="{C3380CC4-5D6E-409C-BE32-E72D297353CC}">
                <c16:uniqueId val="{00000009-0D1D-4B35-A23C-FD395F45A3AA}"/>
              </c:ext>
            </c:extLst>
          </c:dPt>
          <c:dPt>
            <c:idx val="5"/>
            <c:invertIfNegative val="1"/>
            <c:bubble3D val="0"/>
            <c:spPr>
              <a:solidFill>
                <a:srgbClr val="D97706"/>
              </a:solidFill>
            </c:spPr>
            <c:extLst>
              <c:ext xmlns:c16="http://schemas.microsoft.com/office/drawing/2014/chart" uri="{C3380CC4-5D6E-409C-BE32-E72D297353CC}">
                <c16:uniqueId val="{0000000B-0D1D-4B35-A23C-FD395F45A3A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B192C"/>
                    </a:solidFill>
                    <a:latin typeface="Segoe U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GNA-PSC
[2021]</c:v>
                </c:pt>
                <c:pt idx="1">
                  <c:v>MixSegNet
[2022]</c:v>
                </c:pt>
                <c:pt idx="2">
                  <c:v>EF²Net
[2023]</c:v>
                </c:pt>
                <c:pt idx="3">
                  <c:v>DAMF-Net
[2024]</c:v>
                </c:pt>
                <c:pt idx="4">
                  <c:v>DMS-UNet
[2026]</c:v>
                </c:pt>
                <c:pt idx="5">
                  <c:v>MSBA-Net
(Proposed)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83.5</c:v>
                </c:pt>
                <c:pt idx="1">
                  <c:v>84.8</c:v>
                </c:pt>
                <c:pt idx="2">
                  <c:v>88.42</c:v>
                </c:pt>
                <c:pt idx="3">
                  <c:v>91.65</c:v>
                </c:pt>
                <c:pt idx="4">
                  <c:v>94.2</c:v>
                </c:pt>
                <c:pt idx="5">
                  <c:v>97.01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D1D-4B35-A23C-FD395F45A3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75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50"/>
            </a:pPr>
            <a:endParaRPr lang="en-US"/>
          </a:p>
        </c:txPr>
        <c:crossAx val="-2068027336"/>
        <c:crosses val="autoZero"/>
        <c:crossBetween val="between"/>
        <c:majorUnit val="5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822960"/>
            <a:ext cx="2926080" cy="34747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B45309"/>
                </a:solidFill>
                <a:latin typeface="Segoe UI"/>
              </a:rPr>
              <a:t>M.TECH (AIML) RESEARCH SEMINAR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362895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defRPr sz="2800" b="1">
                <a:solidFill>
                  <a:srgbClr val="0B192C"/>
                </a:solidFill>
                <a:latin typeface="Segoe UI"/>
              </a:defRPr>
            </a:pPr>
            <a:r>
              <a:t>MSBA-Net: Multi-Scale Feature Enhancement and Boundary-Aware Learning for Small and Low-Contrast Steel Surface Defect Segmentation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108960"/>
            <a:ext cx="2011680" cy="3200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A Boundary-Preserving Deep Semantic Segmentation Architecture for Automated Metallurgical Inspection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31920"/>
            <a:ext cx="6217920" cy="2103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/>
            <a:r>
              <a:rPr sz="850" b="1">
                <a:solidFill>
                  <a:srgbClr val="D97706"/>
                </a:solidFill>
              </a:rPr>
              <a:t>PRESENTER &amp; CANDIDATE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0B192C"/>
                </a:solidFill>
              </a:rPr>
              <a:t>Amen Parmar  </a:t>
            </a:r>
            <a:r>
              <a:rPr sz="1200">
                <a:solidFill>
                  <a:srgbClr val="475569"/>
                </a:solidFill>
              </a:rPr>
              <a:t>|  Roll No: 2502010010  |  M.Tech (AIML)</a:t>
            </a:r>
          </a:p>
          <a:p>
            <a:pPr>
              <a:spcBef>
                <a:spcPts val="800"/>
              </a:spcBef>
            </a:pPr>
            <a:r>
              <a:rPr sz="900" b="1">
                <a:solidFill>
                  <a:srgbClr val="64748B"/>
                </a:solidFill>
              </a:rPr>
              <a:t>PAPER CO-AUTHORS: </a:t>
            </a:r>
            <a:r>
              <a:rPr sz="1000">
                <a:solidFill>
                  <a:srgbClr val="0B192C"/>
                </a:solidFill>
              </a:rPr>
              <a:t>Amit Kumar Bairwa, Varun Kumar</a:t>
            </a:r>
          </a:p>
          <a:p>
            <a:pPr>
              <a:spcBef>
                <a:spcPts val="400"/>
              </a:spcBef>
            </a:pPr>
            <a:r>
              <a:rPr sz="900" b="1">
                <a:solidFill>
                  <a:srgbClr val="64748B"/>
                </a:solidFill>
              </a:rPr>
              <a:t>AFFILIATION: </a:t>
            </a:r>
            <a:r>
              <a:rPr sz="1000">
                <a:solidFill>
                  <a:srgbClr val="0B192C"/>
                </a:solidFill>
              </a:rPr>
              <a:t>Department of Computer Science &amp; Engineering, Manipal University Jaipur</a:t>
            </a:r>
          </a:p>
        </p:txBody>
      </p:sp>
      <p:pic>
        <p:nvPicPr>
          <p:cNvPr id="7" name="Picture 6" descr="slide3_defect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931920"/>
            <a:ext cx="3779215" cy="1463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5486400"/>
            <a:ext cx="37792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i="1">
                <a:solidFill>
                  <a:srgbClr val="475569"/>
                </a:solidFill>
              </a:rPr>
              <a:t>Metallurgical Defect Challenge: Hairline Crazing &amp; Faint Contrast (&lt;1% Area)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D97706"/>
                </a:solidFill>
                <a:latin typeface="Segoe UI"/>
              </a:defRPr>
            </a:pPr>
            <a:r>
              <a:t>M.TECH (AIML) RESEARCH SEMINAR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192C"/>
                </a:solidFill>
                <a:latin typeface="Segoe UI"/>
              </a:defRPr>
            </a:pPr>
            <a: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Core Research Goals of the MSBA-Net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463040" cy="228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865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pPr>
              <a:lnSpc>
                <a:spcPct val="125000"/>
              </a:lnSpc>
              <a:spcAft>
                <a:spcPts val="1400"/>
              </a:spcAft>
              <a:defRPr sz="17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Accurate Segmentation: </a:t>
            </a:r>
            <a:r>
              <a:rPr b="0">
                <a:solidFill>
                  <a:srgbClr val="1E293B"/>
                </a:solidFill>
              </a:rPr>
              <a:t>Develop an effective segmentation framework specifically engineered for small and low-contrast steel surface defects.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7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Multi-Scale Preservation: </a:t>
            </a:r>
            <a:r>
              <a:rPr b="0">
                <a:solidFill>
                  <a:srgbClr val="1E293B"/>
                </a:solidFill>
              </a:rPr>
              <a:t>Preserve fine-grained structural defect features that are commonly lost during conventional downsampling and pooling stages.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7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Boundary Localization: </a:t>
            </a:r>
            <a:r>
              <a:rPr b="0">
                <a:solidFill>
                  <a:srgbClr val="1E293B"/>
                </a:solidFill>
              </a:rPr>
              <a:t>Improve spatial boundary localization to eliminate border bleeding around faint, low-contrast, and blurred defect contours.</a:t>
            </a:r>
          </a:p>
          <a:p>
            <a:pPr>
              <a:lnSpc>
                <a:spcPct val="125000"/>
              </a:lnSpc>
              <a:spcAft>
                <a:spcPts val="1600"/>
              </a:spcAft>
              <a:defRPr sz="17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Benchmark Validation: </a:t>
            </a:r>
            <a:r>
              <a:rPr b="0">
                <a:solidFill>
                  <a:srgbClr val="1E293B"/>
                </a:solidFill>
              </a:rPr>
              <a:t>Rigorously evaluate the proposed MSBA-Net on the benchmark NEU surface defect database against current state-of-the-art architectures.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49240"/>
            <a:ext cx="10728655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l"/>
            <a:r>
              <a:rPr sz="1150" b="1">
                <a:solidFill>
                  <a:srgbClr val="B45309"/>
                </a:solidFill>
                <a:latin typeface="Segoe UI"/>
              </a:rPr>
              <a:t>Core Research Focus: </a:t>
            </a:r>
            <a:r>
              <a:rPr sz="1150" b="0">
                <a:solidFill>
                  <a:srgbClr val="0B192C"/>
                </a:solidFill>
                <a:latin typeface="Segoe UI"/>
              </a:rPr>
              <a:t>Accurate pixel-level segmentation of microscopic defect structures without sacrificing boundary contour precision.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D97706"/>
                </a:solidFill>
                <a:latin typeface="Segoe UI"/>
              </a:defRPr>
            </a:pPr>
            <a:r>
              <a:t>M.TECH (AIML) RESEARCH SEMINAR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192C"/>
                </a:solidFill>
                <a:latin typeface="Segoe UI"/>
              </a:defRPr>
            </a:pPr>
            <a:r>
              <a:t>Brief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Importance of Automated Visual Inspection in Steel Manufacturing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463040" cy="228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62179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pPr>
              <a:lnSpc>
                <a:spcPct val="125000"/>
              </a:lnSpc>
              <a:spcAft>
                <a:spcPts val="1200"/>
              </a:spcAft>
              <a:defRPr sz="16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Automated Inspection: </a:t>
            </a:r>
            <a:r>
              <a:rPr b="0">
                <a:solidFill>
                  <a:srgbClr val="1E293B"/>
                </a:solidFill>
              </a:rPr>
              <a:t>Automated visual inspection is critical in steel strip manufacturing to prevent catastrophic structural failures in downstream automotive and structural applications.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Micro-Scale Flaws: </a:t>
            </a:r>
            <a:r>
              <a:rPr b="0">
                <a:solidFill>
                  <a:srgbClr val="1E293B"/>
                </a:solidFill>
              </a:rPr>
              <a:t>Surface defects such as hairline crazing cracks and pit depressions frequently occupy less than 1% of the entire image area.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Low Intensity Contrast: </a:t>
            </a:r>
            <a:r>
              <a:rPr b="0">
                <a:solidFill>
                  <a:srgbClr val="1E293B"/>
                </a:solidFill>
              </a:rPr>
              <a:t>Subtle gray-level differences between defect regions and surrounding rolled steel textures make pixel-level delineation extremely challenging.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Downsampling Dilemma: </a:t>
            </a:r>
            <a:r>
              <a:rPr b="0">
                <a:solidFill>
                  <a:srgbClr val="1E293B"/>
                </a:solidFill>
              </a:rPr>
              <a:t>Conventional encoder-decoder networks wash away fine spatial details during successive pooling stages, leading to missed flaws.</a:t>
            </a:r>
          </a:p>
        </p:txBody>
      </p:sp>
      <p:pic>
        <p:nvPicPr>
          <p:cNvPr id="7" name="Picture 6" descr="slide3_defect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83080"/>
            <a:ext cx="4114800" cy="1600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3611880"/>
            <a:ext cx="4114800" cy="1463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r>
              <a:rPr sz="1050" b="1">
                <a:solidFill>
                  <a:srgbClr val="0B192C"/>
                </a:solidFill>
              </a:rPr>
              <a:t>Representative Challenge from NEU Dataset: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75569"/>
                </a:solidFill>
              </a:rPr>
              <a:t>Top-left: Raw Crazing steel surface (weak intensity contrast).
Top-right: Ground truth mask isolating micro-scale branching cracks (&lt;1% of total image pixels).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D97706"/>
                </a:solidFill>
                <a:latin typeface="Segoe UI"/>
              </a:defRPr>
            </a:pPr>
            <a:r>
              <a:t>M.TECH (AIML) RESEARCH SEMINAR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192C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Critical Technical Obstacles in Steel Surface Defect Segmentation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463040" cy="228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865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pPr>
              <a:lnSpc>
                <a:spcPct val="125000"/>
              </a:lnSpc>
              <a:spcAft>
                <a:spcPts val="1200"/>
              </a:spcAft>
              <a:defRPr sz="17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Micro-Scale Defect Footprint: </a:t>
            </a:r>
            <a:r>
              <a:rPr b="0">
                <a:solidFill>
                  <a:srgbClr val="1E293B"/>
                </a:solidFill>
              </a:rPr>
              <a:t>Defect regions frequently occupy less than 1% of the image area (&lt;655 pixels at 256×256 resolution). Standard receptive fields aggregate background texture, diluting tiny defect signals.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7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Low-Contrast Boundaries: </a:t>
            </a:r>
            <a:r>
              <a:rPr b="0">
                <a:solidFill>
                  <a:srgbClr val="1E293B"/>
                </a:solidFill>
              </a:rPr>
              <a:t>Subtle gray-level transitions (often only 5–15 intensity levels difference) between defect edges and the steel surface cause severe boundary bleeding in standard models.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7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Downsampling Feature Loss: </a:t>
            </a:r>
            <a:r>
              <a:rPr b="0">
                <a:solidFill>
                  <a:srgbClr val="1E293B"/>
                </a:solidFill>
              </a:rPr>
              <a:t>Repeated striding and pooling operations in deep convolutional encoders discard high-frequency spatial gradients, destroying hairline fissures before reaching deep layers.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7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Extreme Class Imbalance: </a:t>
            </a:r>
            <a:r>
              <a:rPr b="0">
                <a:solidFill>
                  <a:srgbClr val="1E293B"/>
                </a:solidFill>
              </a:rPr>
              <a:t>Over 98% of pixels belong to defect-free steel background, heavily skewing standard loss functions and causing models to ignore micro-scale defect pixels.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49240"/>
            <a:ext cx="10728655" cy="5943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l"/>
            <a:r>
              <a:rPr sz="1150" b="1">
                <a:solidFill>
                  <a:srgbClr val="DC2626"/>
                </a:solidFill>
                <a:latin typeface="Segoe UI"/>
              </a:rPr>
              <a:t>Key Problem: </a:t>
            </a:r>
            <a:r>
              <a:rPr sz="1150" b="0">
                <a:solidFill>
                  <a:srgbClr val="0B192C"/>
                </a:solidFill>
                <a:latin typeface="Segoe UI"/>
              </a:rPr>
              <a:t>Standard segmentation backbones optimize for macro-regions, leading to severe feature loss and blurred boundaries on microscopic metallurgical flaws.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D97706"/>
                </a:solidFill>
                <a:latin typeface="Segoe UI"/>
              </a:defRPr>
            </a:pPr>
            <a:r>
              <a:t>M.TECH (AIML) RESEARCH SEMINAR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192C"/>
                </a:solidFill>
                <a:latin typeface="Segoe UI"/>
              </a:defRPr>
            </a:pPr>
            <a: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Limitations of Existing Segmentation Architectures &amp; The Research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463040" cy="228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DC2626"/>
                </a:solidFill>
              </a:rPr>
              <a:t>LIMITATIONS OF EXISTING METHODS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Spatial Detail Loss: </a:t>
            </a:r>
            <a:r>
              <a:rPr b="0">
                <a:solidFill>
                  <a:srgbClr val="1E293B"/>
                </a:solidFill>
              </a:rPr>
              <a:t>Standard CNN and Transformer backbones sacrifice fine spatial details for broad semantic context during aggressive pooling.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Implicit Boundary Handling: </a:t>
            </a:r>
            <a:r>
              <a:rPr b="0">
                <a:solidFill>
                  <a:srgbClr val="1E293B"/>
                </a:solidFill>
              </a:rPr>
              <a:t>Edge information is relied upon solely through standard skip connections, causing blurred contours and border bleeding.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Tiny-Defect Performance Drop: </a:t>
            </a:r>
            <a:r>
              <a:rPr b="0">
                <a:solidFill>
                  <a:srgbClr val="1E293B"/>
                </a:solidFill>
              </a:rPr>
              <a:t>While models report high overall mIoU, tiny-defect mIoU degrades by 10%–25%, masking failure on safety-critical flaws.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91640"/>
            <a:ext cx="52120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2563EB"/>
                </a:solidFill>
              </a:rPr>
              <a:t>THE UNMET RESEARCH NEED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Native Multi-Scale Preservation: </a:t>
            </a:r>
            <a:r>
              <a:rPr b="0">
                <a:solidFill>
                  <a:srgbClr val="1E293B"/>
                </a:solidFill>
              </a:rPr>
              <a:t>Preserve high-resolution spatial features across multiple receptive fields simultaneously without downsampling loss.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Explicit Boundary Guidance: </a:t>
            </a:r>
            <a:r>
              <a:rPr b="0">
                <a:solidFill>
                  <a:srgbClr val="1E293B"/>
                </a:solidFill>
              </a:rPr>
              <a:t>Incorporate a dedicated auxiliary boundary stream to guide feature fusion and sharpen contour boundaries.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Industrial Real-Time Efficiency: </a:t>
            </a:r>
            <a:r>
              <a:rPr b="0">
                <a:solidFill>
                  <a:srgbClr val="1E293B"/>
                </a:solidFill>
              </a:rPr>
              <a:t>Maintain lightweight parameters (&lt;10M) and high frame rates (&gt;40 FPS) suitable for high-speed rolling-mill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49240"/>
            <a:ext cx="10728655" cy="5943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l"/>
            <a:r>
              <a:rPr sz="1150" b="1">
                <a:solidFill>
                  <a:srgbClr val="2563EB"/>
                </a:solidFill>
                <a:latin typeface="Segoe UI"/>
              </a:rPr>
              <a:t>Core Research Need: </a:t>
            </a:r>
            <a:r>
              <a:rPr sz="1150" b="0">
                <a:solidFill>
                  <a:srgbClr val="0B192C"/>
                </a:solidFill>
                <a:latin typeface="Segoe UI"/>
              </a:rPr>
              <a:t>Multi-scale feature preservation + explicit boundary-aware guidance in a lightweight real-time architecture.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D97706"/>
                </a:solidFill>
                <a:latin typeface="Segoe UI"/>
              </a:defRPr>
            </a:pPr>
            <a:r>
              <a:t>M.TECH (AIML) RESEARCH SEMINAR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192C"/>
                </a:solidFill>
                <a:latin typeface="Segoe UI"/>
              </a:defRPr>
            </a:pPr>
            <a:r>
              <a:t>Proposed Approach — MSBA-Net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Dual-Stream Architecture: Multi-Scale Semantic Backbone + Boundary Guidance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463040" cy="228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280160" cy="7772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/>
            <a:r>
              <a:rPr sz="1100" b="1">
                <a:solidFill>
                  <a:srgbClr val="0B192C"/>
                </a:solidFill>
                <a:latin typeface="Segoe UI"/>
              </a:rPr>
              <a:t>Input Image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Segoe UI"/>
              </a:rPr>
              <a:t>256×256×1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03120" y="2103120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68880" y="1828800"/>
            <a:ext cx="1371600" cy="77724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Segoe UI"/>
              </a:rPr>
              <a:t>Stage 1 + MSFP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Segoe UI"/>
              </a:rPr>
              <a:t>256×256 (64ch)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31920" y="2103120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1371600" cy="77724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Segoe UI"/>
              </a:rPr>
              <a:t>Stage 2 + MSFP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Segoe UI"/>
              </a:rPr>
              <a:t>128×128 (128ch)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60720" y="2103120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1280160" cy="7772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/>
            <a:r>
              <a:rPr sz="1100" b="1">
                <a:solidFill>
                  <a:srgbClr val="0B192C"/>
                </a:solidFill>
                <a:latin typeface="Segoe UI"/>
              </a:rPr>
              <a:t>Bottleneck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Segoe UI"/>
              </a:rPr>
              <a:t>Stages 3 &amp; 4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98079" y="2103120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63840" y="1828800"/>
            <a:ext cx="1554480" cy="77724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/>
            <a:r>
              <a:rPr sz="1100" b="1">
                <a:solidFill>
                  <a:srgbClr val="059669"/>
                </a:solidFill>
                <a:latin typeface="Segoe UI"/>
              </a:rPr>
              <a:t>Decoder Stages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Segoe UI"/>
              </a:rPr>
              <a:t>Upsampling + Skip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509760" y="2103120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875520" y="1828800"/>
            <a:ext cx="1554480" cy="7772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/>
            <a:r>
              <a:rPr sz="1100" b="1">
                <a:solidFill>
                  <a:srgbClr val="B45309"/>
                </a:solidFill>
                <a:latin typeface="Segoe UI"/>
              </a:rPr>
              <a:t>Defect Mask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Segoe UI"/>
              </a:rPr>
              <a:t>256×256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108960"/>
            <a:ext cx="2743200" cy="7772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/>
            <a:r>
              <a:rPr sz="1100" b="1">
                <a:solidFill>
                  <a:srgbClr val="B45309"/>
                </a:solidFill>
                <a:latin typeface="Segoe UI"/>
              </a:rPr>
              <a:t>Boundary-Aware Stream (BAS)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Segoe UI"/>
              </a:rPr>
              <a:t>Auxiliary Edge Supervision (L_bound)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4023360" y="2697480"/>
            <a:ext cx="228600" cy="32004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5760720" y="3383280"/>
            <a:ext cx="32004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72200" y="3108960"/>
            <a:ext cx="3108960" cy="7772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/>
            <a:r>
              <a:rPr sz="1100" b="1">
                <a:solidFill>
                  <a:srgbClr val="B45309"/>
                </a:solidFill>
                <a:latin typeface="Segoe UI"/>
              </a:rPr>
              <a:t>Boundary-Guided Feature Fusion (BGFF)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Segoe UI"/>
              </a:rPr>
              <a:t>Spatial Attention Gating A_spat</a:t>
            </a:r>
          </a:p>
        </p:txBody>
      </p:sp>
      <p:sp>
        <p:nvSpPr>
          <p:cNvPr id="21" name="Up Arrow 20"/>
          <p:cNvSpPr/>
          <p:nvPr/>
        </p:nvSpPr>
        <p:spPr>
          <a:xfrm>
            <a:off x="8046720" y="2697480"/>
            <a:ext cx="228600" cy="320040"/>
          </a:xfrm>
          <a:prstGeom prst="up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251960"/>
            <a:ext cx="10728655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pPr>
              <a:lnSpc>
                <a:spcPct val="125000"/>
              </a:lnSpc>
              <a:spcAft>
                <a:spcPts val="800"/>
              </a:spcAft>
              <a:defRPr sz="16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MSFP Integration: </a:t>
            </a:r>
            <a:r>
              <a:rPr b="0">
                <a:solidFill>
                  <a:srgbClr val="1E293B"/>
                </a:solidFill>
              </a:rPr>
              <a:t>Multi-Scale Feature Preservation modules in encoder stages extract multi-scale spatial details at native resolution.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Boundary-Aware Stream (BAS): </a:t>
            </a:r>
            <a:r>
              <a:rPr b="0">
                <a:solidFill>
                  <a:srgbClr val="1E293B"/>
                </a:solidFill>
              </a:rPr>
              <a:t>Branches off early high-resolution stages to learn explicit defect boundary contours via auxiliary supervision.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Boundary-Guided Feature Fusion (BGFF): </a:t>
            </a:r>
            <a:r>
              <a:rPr b="0">
                <a:solidFill>
                  <a:srgbClr val="1E293B"/>
                </a:solidFill>
              </a:rPr>
              <a:t>Generates spatial attention gating maps from boundary features, sharpening decoder contours and suppressing background noise.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D97706"/>
                </a:solidFill>
                <a:latin typeface="Segoe UI"/>
              </a:defRPr>
            </a:pPr>
            <a:r>
              <a:t>M.TECH (AIML) RESEARCH SEMINAR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192C"/>
                </a:solidFill>
                <a:latin typeface="Segoe UI"/>
              </a:defRPr>
            </a:pPr>
            <a:r>
              <a:t>Multi-Scale Feature Preservation (MSFP)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Capturing Multi-Scale Defect Morphs at Native Resolution Without Downsampling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463040" cy="228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4389120" cy="5486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/>
            <a:r>
              <a:rPr sz="1100" b="1">
                <a:solidFill>
                  <a:srgbClr val="0B192C"/>
                </a:solidFill>
                <a:latin typeface="Segoe UI"/>
              </a:rPr>
              <a:t>Input Feature Map F_in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Segoe UI"/>
              </a:rPr>
              <a:t>Dimensions: H × W × C</a:t>
            </a:r>
          </a:p>
        </p:txBody>
      </p:sp>
      <p:sp>
        <p:nvSpPr>
          <p:cNvPr id="7" name="Down Arrow 6"/>
          <p:cNvSpPr/>
          <p:nvPr/>
        </p:nvSpPr>
        <p:spPr>
          <a:xfrm>
            <a:off x="2816352" y="2560320"/>
            <a:ext cx="228600" cy="32004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1371600" cy="86868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Segoe UI"/>
              </a:rPr>
              <a:t>Branch 1</a:t>
            </a:r>
          </a:p>
          <a:p>
            <a:pPr algn="ctr"/>
            <a:r>
              <a:rPr sz="800">
                <a:solidFill>
                  <a:srgbClr val="475569"/>
                </a:solidFill>
                <a:latin typeface="Segoe UI"/>
              </a:rPr>
              <a:t>3×3, r=1 (RF 3×3)
Hairline Cracks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2971800"/>
            <a:ext cx="1371600" cy="86868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Segoe UI"/>
              </a:rPr>
              <a:t>Branch 2</a:t>
            </a:r>
          </a:p>
          <a:p>
            <a:pPr algn="ctr"/>
            <a:r>
              <a:rPr sz="800">
                <a:solidFill>
                  <a:srgbClr val="475569"/>
                </a:solidFill>
                <a:latin typeface="Segoe UI"/>
              </a:rPr>
              <a:t>3×3, r=2 (RF 5×5)
Pits &amp; Inclusions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2971800"/>
            <a:ext cx="1371600" cy="86868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Segoe UI"/>
              </a:rPr>
              <a:t>Branch 3</a:t>
            </a:r>
          </a:p>
          <a:p>
            <a:pPr algn="ctr"/>
            <a:r>
              <a:rPr sz="800">
                <a:solidFill>
                  <a:srgbClr val="475569"/>
                </a:solidFill>
                <a:latin typeface="Segoe UI"/>
              </a:rPr>
              <a:t>3×3, r=4 (RF 9×9)
Patches &amp; Scale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816352" y="3931920"/>
            <a:ext cx="228600" cy="32004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4389120" cy="64008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/>
            <a:r>
              <a:rPr sz="1100" b="1">
                <a:solidFill>
                  <a:srgbClr val="B45309"/>
                </a:solidFill>
                <a:latin typeface="Segoe UI"/>
              </a:rPr>
              <a:t>Concatenation &amp; 1×1 Pointwise Conv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Segoe UI"/>
              </a:rPr>
              <a:t>Output Feature Map F_out (H × W × 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737360"/>
            <a:ext cx="59436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pPr>
              <a:lnSpc>
                <a:spcPct val="125000"/>
              </a:lnSpc>
              <a:spcAft>
                <a:spcPts val="1200"/>
              </a:spcAft>
              <a:defRPr sz="16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Parallel Dilated Depthwise Convolutions: </a:t>
            </a:r>
            <a:r>
              <a:rPr b="0">
                <a:solidFill>
                  <a:srgbClr val="1E293B"/>
                </a:solidFill>
              </a:rPr>
              <a:t>MSFP splits incoming features across three parallel branches with dilation rates r ∈ {1, 2, 4}, expanding receptive fields without spatial pooling.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Multi-Scale Defect Coverage: </a:t>
            </a:r>
            <a:r>
              <a:rPr b="0">
                <a:solidFill>
                  <a:srgbClr val="1E293B"/>
                </a:solidFill>
              </a:rPr>
              <a:t>Branch 1 captures hairline crazing cracks; Branch 2 captures pit depressions and inclusions; Branch 3 captures broad patches and rolled-in scale sheets.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HDC Condition Compliance: </a:t>
            </a:r>
            <a:r>
              <a:rPr b="0">
                <a:solidFill>
                  <a:srgbClr val="1E293B"/>
                </a:solidFill>
              </a:rPr>
              <a:t>Dilation rates {1, 2, 4} strictly satisfy the Hybrid Dilated Convolution condition, eliminating checkerboard gridding artifacts common in dilated networks.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Zero Downsampling Loss: </a:t>
            </a:r>
            <a:r>
              <a:rPr b="0">
                <a:solidFill>
                  <a:srgbClr val="1E293B"/>
                </a:solidFill>
              </a:rPr>
              <a:t>Operates at native spatial resolution, ensuring microscopic defect structures are fully retained for downstream feature fusion.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D97706"/>
                </a:solidFill>
                <a:latin typeface="Segoe UI"/>
              </a:defRPr>
            </a:pPr>
            <a:r>
              <a:t>M.TECH (AIML) RESEARCH SEMINAR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192C"/>
                </a:solidFill>
                <a:latin typeface="Segoe UI"/>
              </a:defRPr>
            </a:pPr>
            <a:r>
              <a:t>Boundary-Aware Learning — BAS &amp; BGFF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Explicit Boundary Extraction &amp; Spatial Attention Feature Calibration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463040" cy="228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4389120" cy="59436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/>
            <a:r>
              <a:rPr sz="1100" b="1">
                <a:solidFill>
                  <a:srgbClr val="0B192C"/>
                </a:solidFill>
                <a:latin typeface="Segoe UI"/>
              </a:rPr>
              <a:t>Early Encoder Features (Stages 1 &amp; 2)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Segoe UI"/>
              </a:rPr>
              <a:t>High Spatial Resolution (256×256 &amp; 128×128)</a:t>
            </a:r>
          </a:p>
        </p:txBody>
      </p:sp>
      <p:sp>
        <p:nvSpPr>
          <p:cNvPr id="7" name="Down Arrow 6"/>
          <p:cNvSpPr/>
          <p:nvPr/>
        </p:nvSpPr>
        <p:spPr>
          <a:xfrm>
            <a:off x="2816352" y="2606040"/>
            <a:ext cx="228600" cy="32004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4389120" cy="6858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/>
            <a:r>
              <a:rPr sz="1100" b="1">
                <a:solidFill>
                  <a:srgbClr val="B45309"/>
                </a:solidFill>
                <a:latin typeface="Segoe UI"/>
              </a:rPr>
              <a:t>Boundary-Aware Stream (BAS)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Segoe UI"/>
              </a:rPr>
              <a:t>Auxiliary Edge Supervision (L_bound on 1-px defect contours)</a:t>
            </a:r>
          </a:p>
        </p:txBody>
      </p:sp>
      <p:sp>
        <p:nvSpPr>
          <p:cNvPr id="9" name="Down Arrow 8"/>
          <p:cNvSpPr/>
          <p:nvPr/>
        </p:nvSpPr>
        <p:spPr>
          <a:xfrm>
            <a:off x="2816352" y="3794760"/>
            <a:ext cx="228600" cy="32004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4389120" cy="86868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Segoe UI"/>
              </a:rPr>
              <a:t>Boundary-Guided Feature Fusion (BGFF)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Segoe UI"/>
              </a:rPr>
              <a:t>Spatial Attention Map: A_spat = σ(Conv1×1([F_bound ; F_dec]))
Refinement: F_out = F_dec ⊙ (1 + A_spat)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737360"/>
            <a:ext cx="59436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pPr>
              <a:lnSpc>
                <a:spcPct val="125000"/>
              </a:lnSpc>
              <a:spcAft>
                <a:spcPts val="1200"/>
              </a:spcAft>
              <a:defRPr sz="16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Dedicated Edge Extraction (BAS): </a:t>
            </a:r>
            <a:r>
              <a:rPr b="0">
                <a:solidFill>
                  <a:srgbClr val="1E293B"/>
                </a:solidFill>
              </a:rPr>
              <a:t>Taps early encoder features where spatial detail is freshest, learning geometric defect perimeters via dedicated auxiliary boundary loss.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Direct Gradient Injection: </a:t>
            </a:r>
            <a:r>
              <a:rPr b="0">
                <a:solidFill>
                  <a:srgbClr val="1E293B"/>
                </a:solidFill>
              </a:rPr>
              <a:t>Injects edge-supervision gradients directly into shallow layers, preventing boundary gradients from vanishing in deep semantic layers.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Spatial Attention Calibration (BGFF): </a:t>
            </a:r>
            <a:r>
              <a:rPr b="0">
                <a:solidFill>
                  <a:srgbClr val="1E293B"/>
                </a:solidFill>
              </a:rPr>
              <a:t>Dynamically boosts feature gain along defect perimeters while dampening uniform steel background response.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Elimination of Border Bleeding: </a:t>
            </a:r>
            <a:r>
              <a:rPr b="0">
                <a:solidFill>
                  <a:srgbClr val="1E293B"/>
                </a:solidFill>
              </a:rPr>
              <a:t>Produces clean, leak-free defect contours around weak, low-contrast boundaries that confuse standard thresholding.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D97706"/>
                </a:solidFill>
                <a:latin typeface="Segoe UI"/>
              </a:defRPr>
            </a:pPr>
            <a:r>
              <a:t>M.TECH (AIML) RESEARCH SEMINAR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192C"/>
                </a:solidFill>
                <a:latin typeface="Segoe UI"/>
              </a:defRPr>
            </a:pPr>
            <a:r>
              <a:t>Experimental Work —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NEU Surface Defect Database Specifications &amp; Defect Class Taxonomy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463040" cy="228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pPr>
              <a:lnSpc>
                <a:spcPct val="125000"/>
              </a:lnSpc>
              <a:spcAft>
                <a:spcPts val="1200"/>
              </a:spcAft>
              <a:defRPr sz="16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Benchmark Standard: </a:t>
            </a:r>
            <a:r>
              <a:rPr b="0">
                <a:solidFill>
                  <a:srgbClr val="1E293B"/>
                </a:solidFill>
              </a:rPr>
              <a:t>NEU Surface Defect Database developed by Northeastern University (recognized benchmark in metallurgical vision research).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Image Volume &amp; Balance: </a:t>
            </a:r>
            <a:r>
              <a:rPr b="0">
                <a:solidFill>
                  <a:srgbClr val="1E293B"/>
                </a:solidFill>
              </a:rPr>
              <a:t>1,800 grayscale industrial steel strip images, perfectly balanced with exactly 300 images per defect category.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Resolution &amp; Resizing: </a:t>
            </a:r>
            <a:r>
              <a:rPr b="0">
                <a:solidFill>
                  <a:srgbClr val="1E293B"/>
                </a:solidFill>
              </a:rPr>
              <a:t>Original images captured at 200×200 resolution; standardized to 256×256 pixels for deep neural network training.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Rigorous Data Split: </a:t>
            </a:r>
            <a:r>
              <a:rPr b="0">
                <a:solidFill>
                  <a:srgbClr val="1E293B"/>
                </a:solidFill>
              </a:rPr>
              <a:t>70% Training (1,260 images), 15% Validation (270 images), and 15% Independent Testing (270 images).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691640"/>
          <a:ext cx="52120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Defect Category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Morphological Characteristics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192C"/>
                          </a:solidFill>
                          <a:latin typeface="Segoe UI"/>
                        </a:rPr>
                        <a:t>Crazing (Cr)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Thin, branching network of micro-cracks (&lt;1% area)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192C"/>
                          </a:solidFill>
                          <a:latin typeface="Segoe UI"/>
                        </a:rPr>
                        <a:t>Inclusion (In)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Non-metallic slag particles embedded into surface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192C"/>
                          </a:solidFill>
                          <a:latin typeface="Segoe UI"/>
                        </a:rPr>
                        <a:t>Patches (Pa)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Localized surface oxidation &amp; discoloration sheets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192C"/>
                          </a:solidFill>
                          <a:latin typeface="Segoe UI"/>
                        </a:rPr>
                        <a:t>Pitted Surface (PS)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Small point-like pit depressions &amp; indentations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192C"/>
                          </a:solidFill>
                          <a:latin typeface="Segoe UI"/>
                        </a:rPr>
                        <a:t>Rolled-in Scale (RS)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Mill oxide scale mechanically pressed into strip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192C"/>
                          </a:solidFill>
                          <a:latin typeface="Segoe UI"/>
                        </a:rPr>
                        <a:t>Scratches (Sc)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Linear mechanical abrasive grooves along rolling line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D97706"/>
                </a:solidFill>
                <a:latin typeface="Segoe UI"/>
              </a:defRPr>
            </a:pPr>
            <a:r>
              <a:t>M.TECH (AIML) RESEARCH SEMINAR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192C"/>
                </a:solidFill>
                <a:latin typeface="Segoe UI"/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Hardware Environment, Training Hyperparameters, and Model Complexity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463040" cy="228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2563EB"/>
                </a:solidFill>
              </a:rPr>
              <a:t>TRAINING PROTOCOL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Deep Learning Framework: </a:t>
            </a:r>
            <a:r>
              <a:rPr b="0">
                <a:solidFill>
                  <a:srgbClr val="1E293B"/>
                </a:solidFill>
              </a:rPr>
              <a:t>PyTorch 2.1 implementation using CUDA 12.1 acceleration.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Compute Hardware: </a:t>
            </a:r>
            <a:r>
              <a:rPr b="0">
                <a:solidFill>
                  <a:srgbClr val="1E293B"/>
                </a:solidFill>
              </a:rPr>
              <a:t>Single NVIDIA GeForce RTX 4090 GPU with 24GB high-speed GDDR6X VRAM.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Optimizer &amp; Weight Decay: </a:t>
            </a:r>
            <a:r>
              <a:rPr b="0">
                <a:solidFill>
                  <a:srgbClr val="1E293B"/>
                </a:solidFill>
              </a:rPr>
              <a:t>AdamW optimizer (β1=0.9, β2=0.999, weight decay 1×10⁻⁴).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Learning Rate Schedule: </a:t>
            </a:r>
            <a:r>
              <a:rPr b="0">
                <a:solidFill>
                  <a:srgbClr val="1E293B"/>
                </a:solidFill>
              </a:rPr>
              <a:t>Initial learning rate 1×10⁻³ with Cosine Annealing decay down to 1×10⁻⁶.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Batch Size &amp; Epochs: </a:t>
            </a:r>
            <a:r>
              <a:rPr b="0">
                <a:solidFill>
                  <a:srgbClr val="1E293B"/>
                </a:solidFill>
              </a:rPr>
              <a:t>Batch size of 16 images; trained for 100 epochs until full convergence.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91640"/>
            <a:ext cx="5212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B45309"/>
                </a:solidFill>
              </a:rPr>
              <a:t>MODEL COMPLEXITY &amp; REAL-TIME EFFICIENCY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Parameter Count: </a:t>
            </a:r>
            <a:r>
              <a:rPr b="0">
                <a:solidFill>
                  <a:srgbClr val="1E293B"/>
                </a:solidFill>
              </a:rPr>
              <a:t>9.38 Million parameters (highly compact footprint for edge deployment).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Computational Cost: </a:t>
            </a:r>
            <a:r>
              <a:rPr b="0">
                <a:solidFill>
                  <a:srgbClr val="1E293B"/>
                </a:solidFill>
              </a:rPr>
              <a:t>14.2 GFLOPs per single-image forward inference pass.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Inference Latency: </a:t>
            </a:r>
            <a:r>
              <a:rPr b="0">
                <a:solidFill>
                  <a:srgbClr val="1E293B"/>
                </a:solidFill>
              </a:rPr>
              <a:t>24.3 milliseconds per 256×256 input image.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PyTorch FP32 Speed: </a:t>
            </a:r>
            <a:r>
              <a:rPr b="0">
                <a:solidFill>
                  <a:srgbClr val="1E293B"/>
                </a:solidFill>
              </a:rPr>
              <a:t>41.1 Frames Per Second (comfortably exceeds the 30 FPS real-time threshold).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6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TensorRT FP16 Speed: </a:t>
            </a:r>
            <a:r>
              <a:rPr b="0">
                <a:solidFill>
                  <a:srgbClr val="1E293B"/>
                </a:solidFill>
              </a:rPr>
              <a:t>88.5 Frames Per Second (enables high-speed online rolling-mill inspection).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D97706"/>
                </a:solidFill>
                <a:latin typeface="Segoe UI"/>
              </a:defRPr>
            </a:pPr>
            <a:r>
              <a:t>M.TECH (AIML) RESEARCH SEMINAR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192C"/>
                </a:solidFill>
                <a:latin typeface="Segoe UI"/>
              </a:defRPr>
            </a:pPr>
            <a: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Standard Overlap Metrics and Dedicated Micro-Defect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463040" cy="228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865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pPr>
              <a:lnSpc>
                <a:spcPct val="125000"/>
              </a:lnSpc>
              <a:spcAft>
                <a:spcPts val="1200"/>
              </a:spcAft>
              <a:defRPr sz="17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mIoU (Mean Intersection over Union): </a:t>
            </a:r>
            <a:r>
              <a:rPr b="0">
                <a:solidFill>
                  <a:srgbClr val="1E293B"/>
                </a:solidFill>
              </a:rPr>
              <a:t>Primary benchmark metric assessing spatial overlap between predicted mask P and ground truth G: mIoU = |P ∩ G| / |P ∪ G|.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7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Dice Similarity Coefficient: </a:t>
            </a:r>
            <a:r>
              <a:rPr b="0">
                <a:solidFill>
                  <a:srgbClr val="1E293B"/>
                </a:solidFill>
              </a:rPr>
              <a:t>Measures harmonic mean of precision and recall (2|P ∩ G| / (|P| + |G|)); scale-invariant region overlap indicator.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7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Precision &amp; Recall: </a:t>
            </a:r>
            <a:r>
              <a:rPr b="0">
                <a:solidFill>
                  <a:srgbClr val="1E293B"/>
                </a:solidFill>
              </a:rPr>
              <a:t>Precision (TP / (TP + FP)) verifies predicted defect pixel correctness; Recall (TP / (TP + FN)) ensures zero missed defect regions.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7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Tiny-Defect mIoU (Key Innovation): </a:t>
            </a:r>
            <a:r>
              <a:rPr b="0">
                <a:solidFill>
                  <a:srgbClr val="1E293B"/>
                </a:solidFill>
              </a:rPr>
              <a:t>Specifically evaluates performance exclusively on defect regions occupying less than 1% of the total image area (&lt;655 pixels at 256×256).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49240"/>
            <a:ext cx="10728655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l"/>
            <a:r>
              <a:rPr sz="1150" b="1">
                <a:solidFill>
                  <a:srgbClr val="B45309"/>
                </a:solidFill>
                <a:latin typeface="Segoe UI"/>
              </a:rPr>
              <a:t>Why Tiny-Defect mIoU Matters: </a:t>
            </a:r>
            <a:r>
              <a:rPr sz="1150" b="0">
                <a:solidFill>
                  <a:srgbClr val="0B192C"/>
                </a:solidFill>
                <a:latin typeface="Segoe UI"/>
              </a:rPr>
              <a:t>Overall mIoU is area-weighted; high scores on large patches can easily mask catastrophic detection failures on hairline cracks.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D97706"/>
                </a:solidFill>
                <a:latin typeface="Segoe UI"/>
              </a:defRPr>
            </a:pPr>
            <a:r>
              <a:t>M.TECH (AIML) RESEARCH SEMINAR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192C"/>
                </a:solidFill>
                <a:latin typeface="Segoe UI"/>
              </a:defRPr>
            </a:pPr>
            <a:r>
              <a:t>Results — Comparison with Existing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Benchmarking MSBA-Net Against State-of-the-Art Segmentation Networks on NEU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463040" cy="228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783080"/>
          <a:ext cx="59436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1783080"/>
          <a:ext cx="4572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mIoU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Dice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Tiny mIoU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192C"/>
                          </a:solidFill>
                        </a:rPr>
                        <a:t>DAMF-Net [2024]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B192C"/>
                          </a:solidFill>
                        </a:rPr>
                        <a:t>91.65%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B192C"/>
                          </a:solidFill>
                        </a:rPr>
                        <a:t>93.40%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B192C"/>
                          </a:solidFill>
                        </a:rPr>
                        <a:t>85.20%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192C"/>
                          </a:solidFill>
                        </a:rPr>
                        <a:t>DMS-UNet [2026]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B192C"/>
                          </a:solidFill>
                        </a:rPr>
                        <a:t>94.20%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B192C"/>
                          </a:solidFill>
                        </a:rPr>
                        <a:t>95.80%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B192C"/>
                          </a:solidFill>
                        </a:rPr>
                        <a:t>88.40%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45309"/>
                          </a:solidFill>
                        </a:rPr>
                        <a:t>MSBA-Net (Ours)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45309"/>
                          </a:solidFill>
                        </a:rPr>
                        <a:t>97.01%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45309"/>
                          </a:solidFill>
                        </a:rPr>
                        <a:t>98.48%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45309"/>
                          </a:solidFill>
                        </a:rPr>
                        <a:t>92.48%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0" y="3703320"/>
            <a:ext cx="45720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pPr>
              <a:lnSpc>
                <a:spcPct val="125000"/>
              </a:lnSpc>
              <a:spcAft>
                <a:spcPts val="1000"/>
              </a:spcAft>
              <a:defRPr sz="15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State-of-the-Art mIoU: </a:t>
            </a:r>
            <a:r>
              <a:rPr b="0">
                <a:solidFill>
                  <a:srgbClr val="1E293B"/>
                </a:solidFill>
              </a:rPr>
              <a:t>MSBA-Net achieves 97.01% mIoU, outperforming the previous 2026 leader DMS-UNet by +2.81%.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5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Exceptional Region Overlap: </a:t>
            </a:r>
            <a:r>
              <a:rPr b="0">
                <a:solidFill>
                  <a:srgbClr val="1E293B"/>
                </a:solidFill>
              </a:rPr>
              <a:t>Dice coefficient reaches 98.48%, with 97.57% Precision and 99.41% Recall.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5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Dominant Tiny-Defect Gain: </a:t>
            </a:r>
            <a:r>
              <a:rPr b="0">
                <a:solidFill>
                  <a:srgbClr val="1E293B"/>
                </a:solidFill>
              </a:rPr>
              <a:t>Tiny-Defect mIoU reaches 92.48% (+4.08% over DMS-UNet), confirming micro-structure preservation.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D97706"/>
                </a:solidFill>
                <a:latin typeface="Segoe UI"/>
              </a:defRPr>
            </a:pPr>
            <a:r>
              <a:t>M.TECH (AIML) RESEARCH SEMINAR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192C"/>
                </a:solidFill>
                <a:latin typeface="Segoe UI"/>
              </a:defRPr>
            </a:pPr>
            <a:r>
              <a:t>Results — Per-Class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Category-Wise Segmentation Performance Across the Six Defect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463040" cy="228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91640"/>
          <a:ext cx="49377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Defect Category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MSBA-Net mIoU (%)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192C"/>
                          </a:solidFill>
                        </a:rPr>
                        <a:t>Patches (Pa)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45309"/>
                          </a:solidFill>
                        </a:rPr>
                        <a:t>97.85%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192C"/>
                          </a:solidFill>
                        </a:rPr>
                        <a:t>Inclusions (In)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192C"/>
                          </a:solidFill>
                        </a:rPr>
                        <a:t>97.15%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192C"/>
                          </a:solidFill>
                        </a:rPr>
                        <a:t>Scratches (Sc)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192C"/>
                          </a:solidFill>
                        </a:rPr>
                        <a:t>97.12%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192C"/>
                          </a:solidFill>
                        </a:rPr>
                        <a:t>Pitted Surface (PS)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192C"/>
                          </a:solidFill>
                        </a:rPr>
                        <a:t>96.80%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192C"/>
                          </a:solidFill>
                        </a:rPr>
                        <a:t>Rolled-in Scale (RS)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192C"/>
                          </a:solidFill>
                        </a:rPr>
                        <a:t>96.72%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192C"/>
                          </a:solidFill>
                        </a:rPr>
                        <a:t>Crazing (Cr)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192C"/>
                          </a:solidFill>
                        </a:rPr>
                        <a:t>96.42%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160520"/>
            <a:ext cx="49377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pPr>
              <a:lnSpc>
                <a:spcPct val="125000"/>
              </a:lnSpc>
              <a:spcAft>
                <a:spcPts val="800"/>
              </a:spcAft>
              <a:defRPr sz="15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Uniform Excellence: </a:t>
            </a:r>
            <a:r>
              <a:rPr b="0">
                <a:solidFill>
                  <a:srgbClr val="1E293B"/>
                </a:solidFill>
              </a:rPr>
              <a:t>Performance remains consistently above 96.4% across all six industrial categories.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5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Highest Class Score: </a:t>
            </a:r>
            <a:r>
              <a:rPr b="0">
                <a:solidFill>
                  <a:srgbClr val="1E293B"/>
                </a:solidFill>
              </a:rPr>
              <a:t>Patches reach 97.85% mIoU due to homogeneous and continuous regional defect area.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50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Challenging Morphology: </a:t>
            </a:r>
            <a:r>
              <a:rPr b="0">
                <a:solidFill>
                  <a:srgbClr val="1E293B"/>
                </a:solidFill>
              </a:rPr>
              <a:t>Crazing is relatively most demanding (96.42%) due to complex branching hairline fissures.</a:t>
            </a:r>
          </a:p>
        </p:txBody>
      </p:sp>
      <p:pic>
        <p:nvPicPr>
          <p:cNvPr id="8" name="Picture 7" descr="slide13_qualitativ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91640"/>
            <a:ext cx="5486400" cy="2194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43600" y="4069080"/>
            <a:ext cx="5486400" cy="19202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r>
              <a:rPr sz="1100" b="1">
                <a:solidFill>
                  <a:srgbClr val="0B192C"/>
                </a:solidFill>
              </a:rPr>
              <a:t>Qualitative Comparison: Crazing &amp; Inclusions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75569"/>
                </a:solidFill>
              </a:rPr>
              <a:t>Columns: (a) Input Steel Image | (b) Ground Truth Mask | (c) Baseline U-Net | (d) MSBA-Net (Ours)
Key Finding: Baseline U-Net suffers severe boundary bleeding and misses disconnected crack segments. MSBA-Net captures fine hairline branches with razor-sharp boundary alignment.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D97706"/>
                </a:solidFill>
                <a:latin typeface="Segoe UI"/>
              </a:defRPr>
            </a:pPr>
            <a:r>
              <a:t>M.TECH (AIML) RESEARCH SEMINAR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192C"/>
                </a:solidFill>
                <a:latin typeface="Segoe UI"/>
              </a:defRPr>
            </a:pPr>
            <a:r>
              <a:t>Limitations &amp; 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Stress-Testing Under Simulated Environmental Shop-Floor Degradations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463040" cy="228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83080"/>
          <a:ext cx="4754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Degradation Condition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MSBA-Net mIoU (%)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192C"/>
                          </a:solidFill>
                        </a:rPr>
                        <a:t>Normal Clean Benchmark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</a:rPr>
                        <a:t>97.01%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192C"/>
                          </a:solidFill>
                        </a:rPr>
                        <a:t>Low Contrast (Faint Edge Contrast)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B45309"/>
                          </a:solidFill>
                        </a:rPr>
                        <a:t>39.67%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192C"/>
                          </a:solidFill>
                        </a:rPr>
                        <a:t>Defocus Blur (Out-of-Focus Optics)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DC2626"/>
                          </a:solidFill>
                        </a:rPr>
                        <a:t>26.29%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192C"/>
                          </a:solidFill>
                        </a:rPr>
                        <a:t>Gaussian Noise (Thermal Sensor Noise, σ=25)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DC2626"/>
                          </a:solidFill>
                        </a:rPr>
                        <a:t>2.33%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52160" y="1691640"/>
            <a:ext cx="55778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pPr>
              <a:lnSpc>
                <a:spcPct val="125000"/>
              </a:lnSpc>
              <a:spcAft>
                <a:spcPts val="1400"/>
              </a:spcAft>
              <a:defRPr sz="16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Noise Vulnerability: </a:t>
            </a:r>
            <a:r>
              <a:rPr b="0">
                <a:solidFill>
                  <a:srgbClr val="1E293B"/>
                </a:solidFill>
              </a:rPr>
              <a:t>Gaussian noise causes severe performance collapse (2.33% mIoU); high-frequency random thermal fluctuations are amplified by boundary convolutions into thousands of spurious false edges.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Optical Defocus Blur: </a:t>
            </a:r>
            <a:r>
              <a:rPr b="0">
                <a:solidFill>
                  <a:srgbClr val="1E293B"/>
                </a:solidFill>
              </a:rPr>
              <a:t>Defocus blur softens already weak gray-level gradients, reducing boundary attention gating effectiveness (26.29% mIoU).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6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Industrial Remediation: </a:t>
            </a:r>
            <a:r>
              <a:rPr b="0">
                <a:solidFill>
                  <a:srgbClr val="1E293B"/>
                </a:solidFill>
              </a:rPr>
              <a:t>Evaluation is primarily based on simulated NEU degradations; factory rolling-mill deployment strictly requires front-end bilateral denoising filters and high-intensity LED strobe lighting.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D97706"/>
                </a:solidFill>
                <a:latin typeface="Segoe UI"/>
              </a:defRPr>
            </a:pPr>
            <a:r>
              <a:t>M.TECH (AIML) RESEARCH SEMINAR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192C"/>
                </a:solidFill>
                <a:latin typeface="Segoe UI"/>
              </a:defRPr>
            </a:pPr>
            <a: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Summary of Research Contributions and Future Directions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463040" cy="228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2563EB"/>
                </a:solidFill>
              </a:rPr>
              <a:t>RESEARCH CONCLUSIONS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5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Dual-Stream Synergy: </a:t>
            </a:r>
            <a:r>
              <a:rPr b="0">
                <a:solidFill>
                  <a:srgbClr val="1E293B"/>
                </a:solidFill>
              </a:rPr>
              <a:t>MSBA-Net combines multi-scale feature preservation (MSFP) with explicit boundary learning (BAS + BGFF).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5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Fine-Feature Retention: </a:t>
            </a:r>
            <a:r>
              <a:rPr b="0">
                <a:solidFill>
                  <a:srgbClr val="1E293B"/>
                </a:solidFill>
              </a:rPr>
              <a:t>MSFP successfully preserves micro-scale flaws occupying &lt;1% area without downsampling dilution.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5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Benchmark Superiority: </a:t>
            </a:r>
            <a:r>
              <a:rPr b="0">
                <a:solidFill>
                  <a:srgbClr val="1E293B"/>
                </a:solidFill>
              </a:rPr>
              <a:t>Achieves state-of-the-art results on NEU: 97.01% mIoU, 98.48% Dice, and 92.48% Tiny-Defect mIoU.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5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Industrial Real-Time Speed: </a:t>
            </a:r>
            <a:r>
              <a:rPr b="0">
                <a:solidFill>
                  <a:srgbClr val="1E293B"/>
                </a:solidFill>
              </a:rPr>
              <a:t>Operates at 41.1 FPS (FP32) and 88.5 FPS (TensorRT FP16) with only 9.38M parameters.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91640"/>
            <a:ext cx="5212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B45309"/>
                </a:solidFill>
              </a:rPr>
              <a:t>FUTURE RESEARCH DIRECTIONS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5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Spatio-Temporal Video Attention: </a:t>
            </a:r>
            <a:r>
              <a:rPr b="0">
                <a:solidFill>
                  <a:srgbClr val="1E293B"/>
                </a:solidFill>
              </a:rPr>
              <a:t>Extend MSBA-Net to continuous line-scan video feeds, exploiting temporal defect continuity across moving steel coils.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5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Self-Supervised Pre-Training: </a:t>
            </a:r>
            <a:r>
              <a:rPr b="0">
                <a:solidFill>
                  <a:srgbClr val="1E293B"/>
                </a:solidFill>
              </a:rPr>
              <a:t>Pre-train masked autoencoders on large volumes of uncurated industrial steel images before supervised fine-tuning.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5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Embedded Edge Quantization: </a:t>
            </a:r>
            <a:r>
              <a:rPr b="0">
                <a:solidFill>
                  <a:srgbClr val="1E293B"/>
                </a:solidFill>
              </a:rPr>
              <a:t>Implement INT8 post-training quantization for deployment on embedded edge boards (e.g., NVIDIA Jetson AGX Orin) at &gt;100 FPS.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550">
                <a:latin typeface="Segoe UI"/>
              </a:defRPr>
            </a:pPr>
            <a:r>
              <a:rPr b="1">
                <a:solidFill>
                  <a:srgbClr val="0B192C"/>
                </a:solidFill>
              </a:rPr>
              <a:t>• Front-End Adaptive Denoising: </a:t>
            </a:r>
            <a:r>
              <a:rPr b="0">
                <a:solidFill>
                  <a:srgbClr val="1E293B"/>
                </a:solidFill>
              </a:rPr>
              <a:t>Integrate learned edge-preserving denoising to harden boundary convolutions against shop-floor thermal noise.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66590" y="1463040"/>
            <a:ext cx="3657600" cy="38404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45309"/>
                </a:solidFill>
                <a:latin typeface="Segoe UI"/>
              </a:rPr>
              <a:t>M.TECH (AIML) RESEARCH SEMINAR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40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0B192C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53409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990" y="3657600"/>
            <a:ext cx="1828800" cy="3200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52190" y="4023360"/>
            <a:ext cx="5486400" cy="18288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/>
            <a:r>
              <a:rPr sz="1600" b="1">
                <a:solidFill>
                  <a:srgbClr val="0B192C"/>
                </a:solidFill>
              </a:rPr>
              <a:t>Amen Parmar</a:t>
            </a:r>
          </a:p>
          <a:p>
            <a:pPr algn="ctr">
              <a:spcBef>
                <a:spcPts val="400"/>
              </a:spcBef>
            </a:pPr>
            <a:r>
              <a:rPr sz="1150">
                <a:solidFill>
                  <a:srgbClr val="475569"/>
                </a:solidFill>
              </a:rPr>
              <a:t>M.Tech in Artificial Intelligence &amp; Machine Learning  |  Roll No: 2502010010</a:t>
            </a:r>
          </a:p>
          <a:p>
            <a:pPr algn="ctr">
              <a:spcBef>
                <a:spcPts val="400"/>
              </a:spcBef>
            </a:pPr>
            <a:r>
              <a:rPr sz="1100">
                <a:solidFill>
                  <a:srgbClr val="0B192C"/>
                </a:solidFill>
              </a:rPr>
              <a:t>Department of Computer Science and Engineering
Manipal University Jaipur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2464</Words>
  <Application>Microsoft Office PowerPoint</Application>
  <PresentationFormat>Widescreen</PresentationFormat>
  <Paragraphs>232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Amen Parmar</cp:lastModifiedBy>
  <cp:revision>3</cp:revision>
  <dcterms:created xsi:type="dcterms:W3CDTF">2013-01-27T09:14:16Z</dcterms:created>
  <dcterms:modified xsi:type="dcterms:W3CDTF">2026-09-30T16:50:41Z</dcterms:modified>
  <cp:category/>
</cp:coreProperties>
</file>